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3200" cy="148132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600" b="1" i="0" lang="pl-PL">
                <a:solidFill>
                  <a:srgbClr val="2A2344"/>
                </a:solidFill>
                <a:latin typeface="Calibri"/>
              </a:rPr>
              <a:t>Mysttic Connect działa tak samo jak Mirth Connect 4.5.2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63200" cy="364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i="0" lang="pl-PL">
                <a:solidFill>
                  <a:srgbClr val="5A5378"/>
                </a:solidFill>
                <a:latin typeface="Calibri"/>
              </a:rPr>
              <a:t>Porównanie A:B na tych samych kanałach i komunikatach. Mysttic Connect 1.2.1, 2026-10-16.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5021580" cy="1280160"/>
          </a:xfrm>
          <a:prstGeom prst="rect">
            <a:avLst/>
          </a:prstGeom>
          <a:solidFill>
            <a:srgbClr val="F3F1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82296" cy="128016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4427220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</a:p>
          <a:p>
            <a:pPr algn="l"/>
            <a:r>
              <a:rPr sz="1700" b="0" i="0" lang="pl-PL">
                <a:solidFill>
                  <a:srgbClr val="5A5378"/>
                </a:solidFill>
                <a:latin typeface="Calibri"/>
              </a:rPr>
              <a:t>oficjalny obraz 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6020" y="3840480"/>
            <a:ext cx="5021580" cy="1280160"/>
          </a:xfrm>
          <a:prstGeom prst="rect">
            <a:avLst/>
          </a:prstGeom>
          <a:solidFill>
            <a:srgbClr val="F3F1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6020" y="3840480"/>
            <a:ext cx="82296" cy="128016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1780" y="3840480"/>
            <a:ext cx="4427220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</a:p>
          <a:p>
            <a:pPr algn="l"/>
            <a:r>
              <a:rPr sz="1700" b="0" i="0" lang="pl-PL">
                <a:solidFill>
                  <a:srgbClr val="5A5378"/>
                </a:solidFill>
                <a:latin typeface="Calibri"/>
              </a:rPr>
              <a:t>obraz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363200" cy="4572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1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Skąd wiemy, że działa tak samo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36141"/>
            <a:ext cx="3484880" cy="4445254"/>
          </a:xfrm>
          <a:prstGeom prst="rect">
            <a:avLst/>
          </a:prstGeom>
          <a:solidFill>
            <a:srgbClr val="F3F1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36141"/>
            <a:ext cx="3484880" cy="64008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0189"/>
            <a:ext cx="2899664" cy="278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 lang="pl-PL">
                <a:solidFill>
                  <a:srgbClr val="4B3A8F"/>
                </a:solidFill>
                <a:latin typeface="Calibri"/>
              </a:rPr>
              <a:t>Ten sam kod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08809"/>
            <a:ext cx="2899664" cy="4493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900" b="1" i="0" lang="pl-PL">
                <a:solidFill>
                  <a:srgbClr val="2A2344"/>
                </a:solidFill>
                <a:latin typeface="Calibri"/>
              </a:rPr>
              <a:t>4.5.2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949575"/>
            <a:ext cx="548640" cy="36576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132455"/>
            <a:ext cx="2899664" cy="2564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0" i="0" lang="pl-PL">
                <a:solidFill>
                  <a:srgbClr val="5A5378"/>
                </a:solidFill>
                <a:latin typeface="Calibri"/>
              </a:rPr>
              <a:t>Kod Mysttic Connect zaczyna się od commitu identycznego z wydaniem 4.5.2 kodu Mirth Connect. Późniejsze zmiany dotyczą nazwy, usług producenta oryginału i narzędzi wokół serwera, nie przetwarzania wiadomości.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3560" y="1636141"/>
            <a:ext cx="3484880" cy="4445254"/>
          </a:xfrm>
          <a:prstGeom prst="rect">
            <a:avLst/>
          </a:prstGeom>
          <a:solidFill>
            <a:srgbClr val="F3F1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3560" y="1636141"/>
            <a:ext cx="3484880" cy="64008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6168" y="2020189"/>
            <a:ext cx="2899664" cy="278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 lang="pl-PL">
                <a:solidFill>
                  <a:srgbClr val="4B3A8F"/>
                </a:solidFill>
                <a:latin typeface="Calibri"/>
              </a:rPr>
              <a:t>Ten sam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6168" y="2408809"/>
            <a:ext cx="2899664" cy="4493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900" b="1" i="0" lang="pl-PL">
                <a:solidFill>
                  <a:srgbClr val="2A2344"/>
                </a:solidFill>
                <a:latin typeface="Calibri"/>
              </a:rPr>
              <a:t>157 924 z 157 928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6168" y="2949575"/>
            <a:ext cx="548640" cy="36576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6168" y="3132455"/>
            <a:ext cx="2899664" cy="2564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0" i="0" lang="pl-PL">
                <a:solidFill>
                  <a:srgbClr val="5A5378"/>
                </a:solidFill>
                <a:latin typeface="Calibri"/>
              </a:rPr>
              <a:t>klas Java z naszego buildu kodu 4.5.2 (przed zmianą nazwy) jest identycznych bajt w bajt z oficjalnym wydaniem 4.5.2. Pozostałe 4 to metadane prekompilowanych stron, które różnią się także między buildami oryginału.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8480" y="1636141"/>
            <a:ext cx="3484880" cy="4445254"/>
          </a:xfrm>
          <a:prstGeom prst="rect">
            <a:avLst/>
          </a:prstGeom>
          <a:solidFill>
            <a:srgbClr val="F3F1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8480" y="1636141"/>
            <a:ext cx="3484880" cy="64008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1088" y="2020189"/>
            <a:ext cx="2899664" cy="278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 lang="pl-PL">
                <a:solidFill>
                  <a:srgbClr val="4B3A8F"/>
                </a:solidFill>
                <a:latin typeface="Calibri"/>
              </a:rPr>
              <a:t>To samo działanie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1088" y="2408809"/>
            <a:ext cx="2899664" cy="4493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900" b="1" i="0" lang="pl-PL">
                <a:solidFill>
                  <a:srgbClr val="2A2344"/>
                </a:solidFill>
                <a:latin typeface="Calibri"/>
              </a:rPr>
              <a:t>99 przypadków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1088" y="2949575"/>
            <a:ext cx="548640" cy="36576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1088" y="3132455"/>
            <a:ext cx="2899664" cy="2564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0" i="0" lang="pl-PL">
                <a:solidFill>
                  <a:srgbClr val="5A5378"/>
                </a:solidFill>
                <a:latin typeface="Calibri"/>
              </a:rPr>
              <a:t>pełnego testu A/B wersji 0: 77 identycznych, 22 różnią się wyłącznie zmienioną nazwą produktu. Scenariusze z tej prezentacji nagrano na wersji 1.2.1.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Jak porównujemy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10728960" cy="4480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29184" indent="-329184">
              <a:spcAft>
                <a:spcPts val="180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2400" b="0" i="0" lang="pl-PL">
                <a:solidFill>
                  <a:srgbClr val="2A2344"/>
                </a:solidFill>
                <a:latin typeface="Calibri"/>
              </a:rPr>
              <a:t>Oficjalny obraz Docker Mirth Connect 4.5.2 i obraz Docker Mysttic Connect 1.2.1, ta sama Java (Temurin 17.0.13), ta sama baza, strefa czasowa i pamięć.</a:t>
            </a:r>
          </a:p>
          <a:p>
            <a:pPr algn="l" marL="329184" indent="-329184">
              <a:spcAft>
                <a:spcPts val="180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2400" b="0" i="0" lang="pl-PL">
                <a:solidFill>
                  <a:srgbClr val="2A2344"/>
                </a:solidFill>
                <a:latin typeface="Calibri"/>
              </a:rPr>
              <a:t>Te same kanały, biblioteki szablonów kodu, konfiguracja i komunikaty wysyłane do obu silników jednocześnie.</a:t>
            </a:r>
          </a:p>
          <a:p>
            <a:pPr algn="l" marL="329184" indent="-329184">
              <a:spcAft>
                <a:spcPts val="180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2400" b="0" i="0" lang="pl-PL">
                <a:solidFill>
                  <a:srgbClr val="2A2344"/>
                </a:solidFill>
                <a:latin typeface="Calibri"/>
              </a:rPr>
              <a:t>Porównujemy wszystko, co wychodzi z silnika: odpowiedzi ACK, wysłane żądania, pliki, wiersze w bazach, e-maile, statusy, treść wiadomości i zdarzenia.</a:t>
            </a:r>
          </a:p>
          <a:p>
            <a:pPr algn="l" marL="329184" indent="-329184">
              <a:spcAft>
                <a:spcPts val="180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2400" b="0" i="0" lang="pl-PL">
                <a:solidFill>
                  <a:srgbClr val="2A2344"/>
                </a:solidFill>
                <a:latin typeface="Calibri"/>
              </a:rPr>
              <a:t>Kontrola szumu: dwa identyczne silniki Mirth Connect dają 99 z 99 identycznych wyników, więc każda różnica pochodzi od programu, nie od środowiska testu.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Scenariusze w tej prezentacji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685671"/>
            <a:ext cx="457200" cy="457200"/>
          </a:xfrm>
          <a:prstGeom prst="ellipse">
            <a:avLst/>
          </a:prstGeom>
          <a:solidFill>
            <a:srgbClr val="4B3A8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800" b="1" i="0" lang="pl-PL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18488"/>
            <a:ext cx="10363200" cy="5915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100" b="1" i="0" lang="pl-PL">
                <a:solidFill>
                  <a:srgbClr val="2A2344"/>
                </a:solidFill>
                <a:latin typeface="Calibri"/>
              </a:rPr>
              <a:t>Import kanału</a:t>
            </a:r>
          </a:p>
          <a:p>
            <a:pPr algn="l"/>
            <a:r>
              <a:rPr sz="1600" b="0" i="0" lang="pl-PL">
                <a:solidFill>
                  <a:srgbClr val="5A5378"/>
                </a:solidFill>
                <a:latin typeface="Calibri"/>
              </a:rPr>
              <a:t>Ten sam plik kanału zaimportowany i wdrożony w obu programach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35073"/>
            <a:ext cx="457200" cy="457200"/>
          </a:xfrm>
          <a:prstGeom prst="ellipse">
            <a:avLst/>
          </a:prstGeom>
          <a:solidFill>
            <a:srgbClr val="4B3A8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800" b="1" i="0" lang="pl-PL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67890"/>
            <a:ext cx="10363200" cy="5915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100" b="1" i="0" lang="pl-PL">
                <a:solidFill>
                  <a:srgbClr val="2A2344"/>
                </a:solidFill>
                <a:latin typeface="Calibri"/>
              </a:rPr>
              <a:t>HL7 v2 przez MLLP z odpowiedzią ACK</a:t>
            </a:r>
          </a:p>
          <a:p>
            <a:pPr algn="l"/>
            <a:r>
              <a:rPr sz="1600" b="0" i="0" lang="pl-PL">
                <a:solidFill>
                  <a:srgbClr val="5A5378"/>
                </a:solidFill>
                <a:latin typeface="Calibri"/>
              </a:rPr>
              <a:t>Te same komunikaty, te same potwierdzenia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184474"/>
            <a:ext cx="457200" cy="457200"/>
          </a:xfrm>
          <a:prstGeom prst="ellipse">
            <a:avLst/>
          </a:prstGeom>
          <a:solidFill>
            <a:srgbClr val="4B3A8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800" b="1" i="0" lang="pl-PL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17291"/>
            <a:ext cx="10363200" cy="5915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100" b="1" i="0" lang="pl-PL">
                <a:solidFill>
                  <a:srgbClr val="2A2344"/>
                </a:solidFill>
                <a:latin typeface="Calibri"/>
              </a:rPr>
              <a:t>HTTP do pliku</a:t>
            </a:r>
          </a:p>
          <a:p>
            <a:pPr algn="l"/>
            <a:r>
              <a:rPr sz="1600" b="0" i="0" lang="pl-PL">
                <a:solidFill>
                  <a:srgbClr val="5A5378"/>
                </a:solidFill>
                <a:latin typeface="Calibri"/>
              </a:rPr>
              <a:t>Zamówienie JSON przez HTTP, przekazane dalej i zapisane do pliku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33876"/>
            <a:ext cx="457200" cy="457200"/>
          </a:xfrm>
          <a:prstGeom prst="ellipse">
            <a:avLst/>
          </a:prstGeom>
          <a:solidFill>
            <a:srgbClr val="4B3A8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800" b="1" i="0" lang="pl-PL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66693"/>
            <a:ext cx="10363200" cy="5915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100" b="1" i="0" lang="pl-PL">
                <a:solidFill>
                  <a:srgbClr val="2A2344"/>
                </a:solidFill>
                <a:latin typeface="Calibri"/>
              </a:rPr>
              <a:t>Skrypt JavaScript</a:t>
            </a:r>
          </a:p>
          <a:p>
            <a:pPr algn="l"/>
            <a:r>
              <a:rPr sz="1600" b="0" i="0" lang="pl-PL">
                <a:solidFill>
                  <a:srgbClr val="5A5378"/>
                </a:solidFill>
                <a:latin typeface="Calibri"/>
              </a:rPr>
              <a:t>Filtr, transformer i destynacje napisane w JavaScript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683277"/>
            <a:ext cx="457200" cy="457200"/>
          </a:xfrm>
          <a:prstGeom prst="ellipse">
            <a:avLst/>
          </a:prstGeom>
          <a:solidFill>
            <a:srgbClr val="4B3A8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1800" b="1" i="0" lang="pl-PL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6094"/>
            <a:ext cx="10363200" cy="59156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100" b="1" i="0" lang="pl-PL">
                <a:solidFill>
                  <a:srgbClr val="2A2344"/>
                </a:solidFill>
                <a:latin typeface="Calibri"/>
              </a:rPr>
              <a:t>Dashboard i przeglądarka wiadomości</a:t>
            </a:r>
          </a:p>
          <a:p>
            <a:pPr algn="l"/>
            <a:r>
              <a:rPr sz="1600" b="0" i="0" lang="pl-PL">
                <a:solidFill>
                  <a:srgbClr val="5A5378"/>
                </a:solidFill>
                <a:latin typeface="Calibri"/>
              </a:rPr>
              <a:t>Liczniki i wiadomości wszystkich kanałów, zapis do bazy danych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94096"/>
            <a:ext cx="6606272" cy="550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1" lang="pl-PL">
                <a:solidFill>
                  <a:srgbClr val="5A5378"/>
                </a:solidFill>
                <a:latin typeface="Calibri"/>
              </a:rPr>
              <a:t>Scenariusze syntetyczne z zestawu testów zgodności, nagrane jednocześnie w obu silnikach. Pełne nagrania A:B są w osobnych klipach wideo.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Import kanału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Kanał po imporcie: te same ustawienia źródła.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3-source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3-source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Import kanału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Kanał wdrożony i uruchomiony w obu silnikach.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6-dashboard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6-dashboard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Import kanału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Wynik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11094720" cy="566928"/>
          </a:xfrm>
          <a:prstGeom prst="rect">
            <a:avLst/>
          </a:prstGeom>
          <a:solidFill>
            <a:srgbClr val="E5F3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82296" cy="566928"/>
          </a:xfrm>
          <a:prstGeom prst="rect">
            <a:avLst/>
          </a:prstGeom>
          <a:solidFill>
            <a:srgbClr val="1D6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1054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 lang="pl-PL">
                <a:solidFill>
                  <a:srgbClr val="1D6F69"/>
                </a:solidFill>
                <a:latin typeface="Calibri"/>
              </a:rPr>
              <a:t>Wyniki identyczne w obu silnikach.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368296"/>
          <a:ext cx="11094720" cy="1790319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31720"/>
                <a:gridCol w="3429000"/>
                <a:gridCol w="3429000"/>
                <a:gridCol w="1905000"/>
              </a:tblGrid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Co porównujemy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Mirth Connect 4.5.2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Mysttic Connect 1.2.1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Wynik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</a:tr>
              <a:tr h="66255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Kanał po imporcie: nazwa, źródło, destynacje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C091 Pilot MLLP HL7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TCP Listener, port 10910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to mock: TCP Sender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C091 Pilot MLLP HL7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TCP Listener, port 10910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to mock: TCP Sender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Eksport kanału po zapisie (XML)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XML, 382 wiersze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XML, 382 wiersze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 (poza czasem i identyfikatorami)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Stan po wdrożeniu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STARTED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STARTED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HL7 v2 przez MLLP z odpowiedzią 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Te same wiadomości i statusy w przeglądarce wiadomości.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3-browser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3-browser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HL7 v2 przez MLLP z odpowiedzią 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Potwierdzenie ACK wysłane nadawcy.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5-response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5-response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HL7 v2 przez MLLP z odpowiedzią 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Wynik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11094720" cy="566928"/>
          </a:xfrm>
          <a:prstGeom prst="rect">
            <a:avLst/>
          </a:prstGeom>
          <a:solidFill>
            <a:srgbClr val="E5F3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82296" cy="566928"/>
          </a:xfrm>
          <a:prstGeom prst="rect">
            <a:avLst/>
          </a:prstGeom>
          <a:solidFill>
            <a:srgbClr val="1D6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1054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 lang="pl-PL">
                <a:solidFill>
                  <a:srgbClr val="1D6F69"/>
                </a:solidFill>
                <a:latin typeface="Calibri"/>
              </a:rPr>
              <a:t>Wyniki identyczne w obu silnikach.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368296"/>
          <a:ext cx="11094720" cy="283616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31720"/>
                <a:gridCol w="3429000"/>
                <a:gridCol w="3429000"/>
                <a:gridCol w="1905000"/>
              </a:tblGrid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Co porównujemy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Mirth Connect 4.5.2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Mysttic Connect 1.2.1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Wynik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</a:tr>
              <a:tr h="8407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ACK na ADT^A01 (MSG0001)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MSH|^~\&amp;|COMPAT|LAB|HIS|HOSP|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20261016230827.794||ACK^A01^ACK|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20261016230827.794|P|2.5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MSA|AA|MSG0001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MSH|^~\&amp;|COMPAT|LAB|HIS|HOSP|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20261016230827.790||ACK^A01^ACK|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20261016230827.790|P|2.5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MSA|AA|MSG0001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 (poza czasem i identyfikatorami)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07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ACK na ORU^R01 (MSG0002, odfiltrowany)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MSH|^~\&amp;|COMPAT|HIS|LAB|HOSP|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20261016230827.812||ACK^R01^ACK|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20261016230827.812|P|2.5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MSA|AR|MSG0002|Message Rejected.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MSH|^~\&amp;|COMPAT|HIS|LAB|HOSP|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20261016230827.854||ACK^R01^ACK|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20261016230827.854|P|2.5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MSA|AR|MSG0002|Message Rejected.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 (poza czasem i identyfikatorami)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8407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ACK na ADT^A08 (MSG0003)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MSH|^~\&amp;|COMPAT|LAB|HIS|HOSP|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20261016230827.879||ACK^A08^ACK|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20261016230827.879|P|2.5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MSA|AA|MSG0003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MSH|^~\&amp;|COMPAT|LAB|HIS|HOSP|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20261016230827.892||ACK^A08^ACK|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20261016230827.892|P|2.5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MSA|AA|MSG0003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 (poza czasem i identyfikatorami)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HL7 v2 przez MLLP z odpowiedzią 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Wynik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11094720" cy="566928"/>
          </a:xfrm>
          <a:prstGeom prst="rect">
            <a:avLst/>
          </a:prstGeom>
          <a:solidFill>
            <a:srgbClr val="E5F3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82296" cy="566928"/>
          </a:xfrm>
          <a:prstGeom prst="rect">
            <a:avLst/>
          </a:prstGeom>
          <a:solidFill>
            <a:srgbClr val="1D6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1054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 lang="pl-PL">
                <a:solidFill>
                  <a:srgbClr val="1D6F69"/>
                </a:solidFill>
                <a:latin typeface="Calibri"/>
              </a:rPr>
              <a:t>Wyniki identyczne w obu silnikach.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368296"/>
          <a:ext cx="11094720" cy="21544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31720"/>
                <a:gridCol w="3429000"/>
                <a:gridCol w="3429000"/>
                <a:gridCol w="1905000"/>
              </a:tblGrid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Co porównujemy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Mirth Connect 4.5.2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Mysttic Connect 1.2.1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Wynik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</a:tr>
              <a:tr h="8407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Wiadomość 1 po transformerze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&lt;patient&gt;&lt;id&gt;P1001&lt;/id&gt;&lt;name&gt;Kowalski^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Jan&lt;/name&gt;&lt;event&gt;ADT_A01&lt;/event&gt;&lt;controlId&gt;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MSG0001&lt;/controlId&gt;&lt;sendingApp&gt;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HIS&lt;/sendingApp&gt;&lt;/patient&gt;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&lt;patient&gt;&lt;id&gt;P1001&lt;/id&gt;&lt;name&gt;Kowalski^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Jan&lt;/name&gt;&lt;event&gt;ADT_A01&lt;/event&gt;&lt;controlId&gt;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MSG0001&lt;/controlId&gt;&lt;sendingApp&gt;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HIS&lt;/sendingApp&gt;&lt;/patient&gt;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Komunikaty przekazane dalej przez MLLP (MSH-10)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MSG0001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MSG0003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MSG0001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MSG0003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Liczniki: odebrane / odfiltrowane / wysłane / błędy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3 / 1 / 2 / 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3 / 1 / 2 / 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HTTP do pliku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HTTP Sender i File Writer w tym samym kanale.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2-destinations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2-destinations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HTTP do pliku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Ta sama treść zapisana do pliku.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5-browser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5-browser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HTTP do pliku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Wynik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11094720" cy="566928"/>
          </a:xfrm>
          <a:prstGeom prst="rect">
            <a:avLst/>
          </a:prstGeom>
          <a:solidFill>
            <a:srgbClr val="E5F3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82296" cy="566928"/>
          </a:xfrm>
          <a:prstGeom prst="rect">
            <a:avLst/>
          </a:prstGeom>
          <a:solidFill>
            <a:srgbClr val="1D6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1054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 lang="pl-PL">
                <a:solidFill>
                  <a:srgbClr val="1D6F69"/>
                </a:solidFill>
                <a:latin typeface="Calibri"/>
              </a:rPr>
              <a:t>Wyniki identyczne; różni się tylko nazwa produktu.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368296"/>
          <a:ext cx="11094720" cy="326669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31720"/>
                <a:gridCol w="3429000"/>
                <a:gridCol w="3429000"/>
                <a:gridCol w="1905000"/>
              </a:tblGrid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Co porównujemy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Mirth Connect 4.5.2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Mysttic Connect 1.2.1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Wynik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Odpowiedź HTTP na zamówienie 1001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200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{"status":"accepted","ref":"R-1"}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200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{"status":"accepted","ref":"R-1"}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Odpowiedź HTTP na zamówienie 1002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200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{"status":"accepted","ref":"R-1"}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200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{"status":"accepted","ref":"R-1"}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48437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Plik order-1001.json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{"orderId":1001,"item":"Paracetamol 500 mg",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"qty":2,"receivedBy":"c092"}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{"orderId":1001,"item":"Paracetamol 500 mg",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"qty":2,"receivedBy":"c092"}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37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Plik order-1002.json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{"orderId":1002,"item":"Ibuprofen 200 mg",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"qty":1,"note":"zażółć","receivedBy":"c092"}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{"orderId":1002,"item":"Ibuprofen 200 mg",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"qty":1,"note":"zażółć","receivedBy":"c092"}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48437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Żądania do systemu docelowego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POST /c092/orders/1001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POST /c092/orders/1002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POST /c092/orders/1001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POST /c092/orders/1002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Nagłówek User-Agent tych żądań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Mirth Connect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Mysttic Connect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4B3A8F"/>
                          </a:solidFill>
                          <a:latin typeface="Calibri"/>
                        </a:rPr>
                        <a:t>różni się tylko nazwa produktu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Skrypt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Ten sam skrypt transformera w obu silnikach.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2-script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2-script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Skrypt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Te same wartości wyliczone przez skrypt.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5-maps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5-maps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Skrypt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Wynik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11094720" cy="566928"/>
          </a:xfrm>
          <a:prstGeom prst="rect">
            <a:avLst/>
          </a:prstGeom>
          <a:solidFill>
            <a:srgbClr val="E5F3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82296" cy="566928"/>
          </a:xfrm>
          <a:prstGeom prst="rect">
            <a:avLst/>
          </a:prstGeom>
          <a:solidFill>
            <a:srgbClr val="1D6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1054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 lang="pl-PL">
                <a:solidFill>
                  <a:srgbClr val="1D6F69"/>
                </a:solidFill>
                <a:latin typeface="Calibri"/>
              </a:rPr>
              <a:t>Wyniki identyczne w obu silnikach.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368296"/>
          <a:ext cx="11094720" cy="326669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31720"/>
                <a:gridCol w="3429000"/>
                <a:gridCol w="3429000"/>
                <a:gridCol w="1905000"/>
              </a:tblGrid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Co porównujemy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Mirth Connect 4.5.2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Mysttic Connect 1.2.1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Wynik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Mapa kanału: wartości wyliczone przez skrypt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upper = HELLO WORLD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padded = 00011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upper = HELLO WORLD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padded = 00011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Odpowiedź destynacji d1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ECHO:HELLO WORLD:11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ECHO:HELLO WORLD:11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66255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Statusy wiadomości 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Source: TRANSFORMED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d1: SENT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d2: SENT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Source: TRANSFORMED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d1: SENT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d2: SENT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Statusy wiadomości 2 (odfiltrowana)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Source: FILTERED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Source: FILTERED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66255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Statusy wiadomości 3 (z błędem)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Source: TRANSFORMED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d1: SENT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d2: ERROR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Source: TRANSFORMED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d1: SENT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d2: ERROR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Błąd zgłoszony przez skrypt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DETAILS:    Error: forced failure for api-3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DETAILS:    Error: forced failure for api-3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Dashboard i przeglądarka wiadomości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Te same liczniki na Dashboardzie.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2-stats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2-stats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Dashboard i przeglądarka wiadomości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Zapis do bazy danych w kanale C093.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262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2A2344"/>
                </a:solidFill>
                <a:latin typeface="Calibri"/>
              </a:rPr>
              <a:t>Mirth Connect 4.5.2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oficjalny obraz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2627" y="1901952"/>
            <a:ext cx="4379366" cy="4572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04-destination.mi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60007" y="1572768"/>
            <a:ext cx="4379366" cy="3291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600" b="1" i="0" lang="pl-PL">
                <a:solidFill>
                  <a:srgbClr val="4B3A8F"/>
                </a:solidFill>
                <a:latin typeface="Calibri"/>
              </a:rPr>
              <a:t>Mysttic Connect 1.2.1</a:t>
            </a:r>
            <a:r>
              <a:rPr sz="1600" b="0" i="0" lang="pl-PL">
                <a:solidFill>
                  <a:srgbClr val="5A5378"/>
                </a:solidFill>
                <a:latin typeface="Calibri"/>
              </a:rPr>
              <a:t>   obraz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0007" y="1901952"/>
            <a:ext cx="4379366" cy="45720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4-destination.myst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07" y="2039112"/>
            <a:ext cx="4379366" cy="4105656"/>
          </a:xfrm>
          <a:prstGeom prst="rect">
            <a:avLst/>
          </a:prstGeom>
          <a:ln w="9525">
            <a:solidFill>
              <a:srgbClr val="DAD6E8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1094720" cy="29260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500" b="1" i="0" lang="pl-PL">
                <a:solidFill>
                  <a:srgbClr val="4B3A8F"/>
                </a:solidFill>
                <a:latin typeface="Calibri"/>
              </a:rPr>
              <a:t>Dashboard i przeglądarka wiadomości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Wynik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11094720" cy="566928"/>
          </a:xfrm>
          <a:prstGeom prst="rect">
            <a:avLst/>
          </a:prstGeom>
          <a:solidFill>
            <a:srgbClr val="E5F3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82296" cy="566928"/>
          </a:xfrm>
          <a:prstGeom prst="rect">
            <a:avLst/>
          </a:prstGeom>
          <a:solidFill>
            <a:srgbClr val="1D6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1054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 lang="pl-PL">
                <a:solidFill>
                  <a:srgbClr val="1D6F69"/>
                </a:solidFill>
                <a:latin typeface="Calibri"/>
              </a:rPr>
              <a:t>Wyniki identyczne; różni się tylko nazwa produktu.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368296"/>
          <a:ext cx="11094720" cy="305384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31720"/>
                <a:gridCol w="3429000"/>
                <a:gridCol w="3429000"/>
                <a:gridCol w="1905000"/>
              </a:tblGrid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Co porównujemy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Mirth Connect 4.5.2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Mysttic Connect 1.2.1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FFFFFF"/>
                          </a:solidFill>
                          <a:latin typeface="Calibri"/>
                        </a:rPr>
                        <a:t>Wynik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4B3A8F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Liczniki C091 (odebrane / odfiltrowane / wysłane / błędy)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3 / 1 / 2 / 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3 / 1 / 2 / 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Liczniki C092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 / 0 / 4 / 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 / 0 / 4 / 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Liczniki C090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3 / 1 / 3 / 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3 / 1 / 3 / 1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Liczniki C093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 / 0 / 6 / 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2 / 0 / 6 / 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4998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Wiersze w bazie danych (tabela c093_out)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A100 | 3 | Paracetamol 500 mg | order-1.csv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B200 | 1 | Maść cynkowa | order-2.csv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A100 | 3 | Paracetamol 500 mg | order-1.csv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B200 | 1 | Maść cynkowa | order-2.csv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37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Wysłane e-maile (temat)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Order A100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Order B200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Order A100</a:t>
                      </a:r>
                    </a:p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Order B200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8F7FC"/>
                    </a:solidFill>
                  </a:tcPr>
                </a:tc>
              </a:tr>
              <a:tr h="3139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Plik SFTP order-A100.txt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A100;3;Paracetamol 500 mg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pl-PL">
                          <a:solidFill>
                            <a:srgbClr val="2A2344"/>
                          </a:solidFill>
                          <a:latin typeface="Calibri"/>
                        </a:rPr>
                        <a:t>A100;3;Paracetamol 500 mg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pl-PL">
                          <a:solidFill>
                            <a:srgbClr val="1D6F69"/>
                          </a:solidFill>
                          <a:latin typeface="Calibri"/>
                        </a:rPr>
                        <a:t>identyczne</a:t>
                      </a:r>
                    </a:p>
                  </a:txBody>
                  <a:tcPr marL="82296" marR="82296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Co się różni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6161142" cy="612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620"/>
              </a:spcAft>
            </a:pPr>
            <a:r>
              <a:rPr sz="1800" b="1" i="0" lang="pl-PL">
                <a:solidFill>
                  <a:srgbClr val="2A2344"/>
                </a:solidFill>
                <a:latin typeface="Calibri"/>
              </a:rPr>
              <a:t>Przetwarzanie wiadomości jest takie samo. Różnice dotyczą nazwy, usług producenta oryginału i narzędzi wokół serwera: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2596"/>
            <a:ext cx="10728960" cy="3662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29184" indent="-329184">
              <a:spcAft>
                <a:spcPts val="135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1800" b="0" i="0" lang="pl-PL">
                <a:solidFill>
                  <a:srgbClr val="2A2344"/>
                </a:solidFill>
                <a:latin typeface="Calibri"/>
              </a:rPr>
              <a:t>nazwa i logo w Administratorze, Server Managerze, CLI i na stronach serwera;</a:t>
            </a:r>
          </a:p>
          <a:p>
            <a:pPr algn="l" marL="329184" indent="-329184">
              <a:spcAft>
                <a:spcPts val="135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1800" b="0" i="0" lang="pl-PL">
                <a:solidFill>
                  <a:srgbClr val="2A2344"/>
                </a:solidFill>
                <a:latin typeface="Calibri"/>
              </a:rPr>
              <a:t>pliki konfiguracji i logu: conf/mysttic.properties i logs/mysttic.log (stary conf/mirth.properties skopiowany z Mirtha nadal działa);</a:t>
            </a:r>
          </a:p>
          <a:p>
            <a:pPr algn="l" marL="329184" indent="-329184">
              <a:spcAft>
                <a:spcPts val="135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1800" b="0" i="0" lang="pl-PL">
                <a:solidFill>
                  <a:srgbClr val="2A2344"/>
                </a:solidFill>
                <a:latin typeface="Calibri"/>
              </a:rPr>
              <a:t>domyślny nagłówek User-Agent: Mysttic Connect w HTTP Sender, gdy kanał go nie ustawia, i temat maili alertów Mysttic Connect Alert;</a:t>
            </a:r>
          </a:p>
          <a:p>
            <a:pPr algn="l" marL="329184" indent="-329184">
              <a:spcAft>
                <a:spcPts val="135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1800" b="0" i="0" lang="pl-PL">
                <a:solidFill>
                  <a:srgbClr val="2A2344"/>
                </a:solidFill>
                <a:latin typeface="Calibri"/>
              </a:rPr>
              <a:t>żadnych połączeń z serwerami producenta oryginału: bez rejestracji przy pierwszym logowaniu, powiadomień i statystyk użycia;</a:t>
            </a:r>
          </a:p>
          <a:p>
            <a:pPr algn="l" marL="329184" indent="-329184">
              <a:spcAft>
                <a:spcPts val="135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1800" b="0" i="0" lang="pl-PL">
                <a:solidFill>
                  <a:srgbClr val="2A2344"/>
                </a:solidFill>
                <a:latin typeface="Calibri"/>
              </a:rPr>
              <a:t>jary Administratora podpisane kluczem Mysttic Connect: oryginalny launcher wymaga dopuszczenia niezaufanych podpisów, Mysttic Connect Administrator Launcher działa od razu;</a:t>
            </a:r>
          </a:p>
          <a:p>
            <a:pPr algn="l" marL="329184" indent="-329184">
              <a:spcAft>
                <a:spcPts val="1350"/>
              </a:spcAft>
              <a:buClr>
                <a:srgbClr val="4B3A8F"/>
              </a:buClr>
              <a:buSzPct val="100000"/>
              <a:buFont typeface="Calibri"/>
              <a:buChar char="•"/>
            </a:pPr>
            <a:r>
              <a:rPr sz="1800" b="0" i="0" lang="pl-PL">
                <a:solidFill>
                  <a:srgbClr val="2A2344"/>
                </a:solidFill>
                <a:latin typeface="Calibri"/>
              </a:rPr>
              <a:t>Server Manager raz na dobę sprawdza, czy jest nowa wersja (można to wyłączyć).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64224"/>
            <a:ext cx="101803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nim ani przez niego niepopieranym.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72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 lang="pl-PL">
                <a:solidFill>
                  <a:srgbClr val="2A2344"/>
                </a:solidFill>
                <a:latin typeface="Calibri"/>
              </a:rPr>
              <a:t>Podsumowanie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43584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2386584"/>
            <a:ext cx="566928" cy="566928"/>
          </a:xfrm>
          <a:prstGeom prst="ellipse">
            <a:avLst/>
          </a:prstGeom>
          <a:solidFill>
            <a:srgbClr val="4B3A8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2200" b="1" i="0" lang="pl-PL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86584"/>
            <a:ext cx="1022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50" b="1" i="0" lang="pl-PL">
                <a:solidFill>
                  <a:srgbClr val="2A2344"/>
                </a:solidFill>
                <a:latin typeface="Calibri"/>
              </a:rPr>
              <a:t>Ten sam kod co Mirth Connect 4.5.2, zbudowany tak samo jak oficjalne wydanie.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75304"/>
            <a:ext cx="566928" cy="566928"/>
          </a:xfrm>
          <a:prstGeom prst="ellipse">
            <a:avLst/>
          </a:prstGeom>
          <a:solidFill>
            <a:srgbClr val="4B3A8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2200" b="1" i="0" lang="pl-PL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575304"/>
            <a:ext cx="1022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50" b="1" i="0" lang="pl-PL">
                <a:solidFill>
                  <a:srgbClr val="2A2344"/>
                </a:solidFill>
                <a:latin typeface="Calibri"/>
              </a:rPr>
              <a:t>Te same wyniki na tych samych kanałach i komunikatach.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764024"/>
            <a:ext cx="566928" cy="566928"/>
          </a:xfrm>
          <a:prstGeom prst="ellipse">
            <a:avLst/>
          </a:prstGeom>
          <a:solidFill>
            <a:srgbClr val="4B3A8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2200" b="1" i="0" lang="pl-PL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764024"/>
            <a:ext cx="1022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250" b="1" i="0" lang="pl-PL">
                <a:solidFill>
                  <a:srgbClr val="2A2344"/>
                </a:solidFill>
                <a:latin typeface="Calibri"/>
              </a:rPr>
              <a:t>Kanały, biblioteki i konfiguracja z Mirth Connect 4.5.2 działają bez zmian.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91072"/>
            <a:ext cx="11094720" cy="10973"/>
          </a:xfrm>
          <a:prstGeom prst="rect">
            <a:avLst/>
          </a:prstGeom>
          <a:solidFill>
            <a:srgbClr val="DAD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11840" y="6364224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00" b="0" i="0" lang="pl-PL">
                <a:solidFill>
                  <a:srgbClr val="5A5378"/>
                </a:solidFill>
                <a:latin typeface="Calibri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520" y="1881886"/>
            <a:ext cx="822960" cy="50292"/>
          </a:xfrm>
          <a:prstGeom prst="rect">
            <a:avLst/>
          </a:prstGeom>
          <a:solidFill>
            <a:srgbClr val="4B3A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65131" y="2293366"/>
            <a:ext cx="7661739" cy="17592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200" b="0" i="0" lang="pl-PL">
                <a:solidFill>
                  <a:srgbClr val="5A5378"/>
                </a:solidFill>
                <a:latin typeface="Calibri"/>
              </a:rPr>
              <a:t>Mirth Connect jest znakiem towarowym swojego właściciela. Mysttic Connect jest niezależnym projektem, niezwiązanym z właścicielem tego znaku ani przez niego niepopieranym. Lewa strona pokazuje oficjalny obraz Docker Mirth Connect 4.5.2 bez zmian; widoczne na niej nazwy i logo należą do ich właścicieli.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Slides>23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Mysttic Connect działa tak samo jak Mirth Connect 4.5.2</dc:title>
  <dc:subject>Porównanie A:B na tych samych kanałach i komunikatach. Mysttic Connect 1.2.1, 2026-10-16.</dc:subject>
  <dc:creator>Mysttic Connect</dc:creator>
  <cp:keywords/>
  <dc:description/>
  <cp:lastModifiedBy>Mysttic Connect</cp:lastModifiedBy>
  <cp:revision>1</cp:revision>
  <dcterms:created xsi:type="dcterms:W3CDTF">2026-10-16T00:00:00Z</dcterms:created>
  <dcterms:modified xsi:type="dcterms:W3CDTF">2026-10-16T00:00:00Z</dcterms:modified>
  <cp:category/>
  <dc:language>pl-PL</dc:language>
</cp:coreProperties>
</file>